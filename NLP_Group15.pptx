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75" r:id="rId8"/>
    <p:sldId id="261" r:id="rId9"/>
    <p:sldId id="276" r:id="rId10"/>
    <p:sldId id="279" r:id="rId11"/>
    <p:sldId id="278" r:id="rId12"/>
    <p:sldId id="280" r:id="rId13"/>
    <p:sldId id="268" r:id="rId14"/>
  </p:sldIdLst>
  <p:sldSz cx="14630400" cy="8229600"/>
  <p:notesSz cx="8229600" cy="14630400"/>
  <p:embeddedFontLst>
    <p:embeddedFont>
      <p:font typeface="Inter" panose="02000503000000020004" pitchFamily="34" charset="-122"/>
      <p:bold r:id="rId19"/>
    </p:embeddedFont>
    <p:embeddedFont>
      <p:font typeface="DM Sans Medium" pitchFamily="34" charset="0"/>
      <p:bold r:id="rId20"/>
    </p:embeddedFont>
    <p:embeddedFont>
      <p:font typeface="DM Sans Medium" pitchFamily="34" charset="-122"/>
      <p:bold r:id="rId21"/>
    </p:embeddedFont>
    <p:embeddedFont>
      <p:font typeface="DM Sans Medium" pitchFamily="34" charset="-120"/>
      <p:bold r:id="rId22"/>
    </p:embeddedFont>
    <p:embeddedFont>
      <p:font typeface="Inter" panose="02000503000000020004" pitchFamily="34" charset="0"/>
      <p:bold r:id="rId23"/>
    </p:embeddedFont>
    <p:embeddedFont>
      <p:font typeface="Inter" panose="02000503000000020004" pitchFamily="34" charset="-120"/>
      <p:bold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等线" panose="02010600030101010101" charset="-122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image" Target="../media/image7.png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image" Target="../media/image6.png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.png"/><Relationship Id="rId11" Type="http://schemas.openxmlformats.org/officeDocument/2006/relationships/tags" Target="../tags/tag36.xml"/><Relationship Id="rId10" Type="http://schemas.openxmlformats.org/officeDocument/2006/relationships/image" Target="../media/image8.png"/><Relationship Id="rId1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20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0160" y="944285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4450" dirty="0">
                <a:latin typeface="Times New Roman" panose="02020603050405020304" charset="0"/>
                <a:cs typeface="Times New Roman" panose="02020603050405020304" charset="0"/>
              </a:rPr>
              <a:t>A Sentiment-Analysis-Based Social QA Chatbot System</a:t>
            </a:r>
            <a:endParaRPr lang="en-US" altLang="zh-CN" sz="44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85105" y="3345815"/>
            <a:ext cx="906653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Group 15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1955" y="4114800"/>
            <a:ext cx="914908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Taibo Zeng(2230026201)         Hailang Hu(2230026050)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32450" y="4960620"/>
            <a:ext cx="899795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Zherui Zhang(2230026218)      Jian Xiong(2230026180)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0" y="5726430"/>
            <a:ext cx="906653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Times New Roman" panose="02020603050405020304" charset="0"/>
                <a:ea typeface="Inter" panose="02000503000000020004" pitchFamily="34" charset="-122"/>
                <a:cs typeface="Times New Roman" panose="02020603050405020304" charset="0"/>
              </a:rPr>
              <a:t>Jiatong Lin(2230026094)         Manxi Tao(2230026145)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99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Outline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1118711" y="1849398"/>
            <a:ext cx="30480" cy="5693093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1358622" y="2344460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878800" y="210454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1078111" y="2189559"/>
            <a:ext cx="111681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2283698" y="2076212"/>
            <a:ext cx="621280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Background &amp; Datasets</a:t>
            </a:r>
            <a:endParaRPr lang="en-US" sz="2650" dirty="0"/>
          </a:p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1358622" y="369022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848320" y="341665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43345" y="3544848"/>
            <a:ext cx="196334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2272030" y="3459480"/>
            <a:ext cx="8428990" cy="425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Social Sentiment/Emotion Analysis Model and Evaluation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381488" y="3743325"/>
            <a:ext cx="114551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1358622" y="5054918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78800" y="481500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</p:spPr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032867" y="4900017"/>
            <a:ext cx="202168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2276475" y="4813300"/>
            <a:ext cx="11243310" cy="425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Chatbot System Based on Sentiment Analysis Model and Evaluation  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2381488" y="5348049"/>
            <a:ext cx="114551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1358622" y="6659642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878800" y="64197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28224" y="6504742"/>
            <a:ext cx="211336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2381488" y="7550904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Demo &amp; Conclusion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2381488" y="6952774"/>
            <a:ext cx="1145512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3" name="Shape 17"/>
          <p:cNvSpPr/>
          <p:nvPr>
            <p:custDataLst>
              <p:tags r:id="rId18"/>
            </p:custDataLst>
          </p:nvPr>
        </p:nvSpPr>
        <p:spPr>
          <a:xfrm>
            <a:off x="858480" y="764020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DEBE3"/>
          </a:solidFill>
        </p:spPr>
        <p:txBody>
          <a:bodyPr/>
          <a:p>
            <a:pPr marL="0" indent="0" algn="ctr">
              <a:lnSpc>
                <a:spcPts val="2650"/>
              </a:lnSpc>
              <a:buNone/>
            </a:pPr>
            <a:r>
              <a:rPr lang="en-US" altLang="zh-CN" sz="2800" b="1"/>
              <a:t>5</a:t>
            </a:r>
            <a:endParaRPr lang="en-US" altLang="zh-CN" sz="2800" b="1"/>
          </a:p>
        </p:txBody>
      </p:sp>
      <p:sp>
        <p:nvSpPr>
          <p:cNvPr id="24" name="Shape 16"/>
          <p:cNvSpPr/>
          <p:nvPr>
            <p:custDataLst>
              <p:tags r:id="rId19"/>
            </p:custDataLst>
          </p:nvPr>
        </p:nvSpPr>
        <p:spPr>
          <a:xfrm>
            <a:off x="1478002" y="784645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</p:spPr>
      </p:sp>
      <p:sp>
        <p:nvSpPr>
          <p:cNvPr id="26" name="Text 19"/>
          <p:cNvSpPr/>
          <p:nvPr>
            <p:custDataLst>
              <p:tags r:id="rId20"/>
            </p:custDataLst>
          </p:nvPr>
        </p:nvSpPr>
        <p:spPr>
          <a:xfrm>
            <a:off x="2362438" y="6418699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Emoji Innovation </a:t>
            </a:r>
            <a:endParaRPr lang="en-US" sz="2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9705"/>
            <a:ext cx="14630400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/>
              <a:t>Background</a:t>
            </a:r>
            <a:endParaRPr lang="en-US" sz="4450" b="1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DEBE3"/>
          </a:solidFill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1020604" y="3906441"/>
            <a:ext cx="357104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Enhanced User Experience</a:t>
            </a:r>
            <a:endParaRPr lang="en-US" sz="220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1020604" y="4396859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Emotion analysis allows chatbots to provide more empathetic and tailored responses.</a:t>
            </a:r>
            <a:endParaRPr lang="en-US" sz="1750" dirty="0"/>
          </a:p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5216962" y="3679627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DEBE3"/>
          </a:solidFill>
        </p:spPr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5443776" y="3906441"/>
            <a:ext cx="347245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Improved Problem Solving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5443776" y="4396859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Understanding user emotions helps chatbots address issues more effectively.</a:t>
            </a:r>
            <a:endParaRPr lang="en-US" sz="175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9768403" y="3709472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EDEBE3"/>
          </a:solidFill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10256203" y="3937556"/>
            <a:ext cx="296406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Natural Conversations</a:t>
            </a:r>
            <a:endParaRPr lang="en-US" sz="2200" dirty="0"/>
          </a:p>
        </p:txBody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9866948" y="4396859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Emotion-aware chatbots can maintain more human-like, fluid dialogues.</a:t>
            </a:r>
            <a:endParaRPr lang="en-US" sz="1750" dirty="0"/>
          </a:p>
        </p:txBody>
      </p:sp>
      <p:sp>
        <p:nvSpPr>
          <p:cNvPr id="12" name="文本框 11"/>
          <p:cNvSpPr txBox="1"/>
          <p:nvPr/>
        </p:nvSpPr>
        <p:spPr>
          <a:xfrm>
            <a:off x="614680" y="1280795"/>
            <a:ext cx="140227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With the booming development of social media, users have higher requirements for the emotional understanding and response capabilities of intelligent chatbots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右箭头 23"/>
          <p:cNvSpPr/>
          <p:nvPr/>
        </p:nvSpPr>
        <p:spPr>
          <a:xfrm rot="8280000">
            <a:off x="4397375" y="2847340"/>
            <a:ext cx="819150" cy="236220"/>
          </a:xfrm>
          <a:prstGeom prst="rightArrow">
            <a:avLst/>
          </a:prstGeom>
          <a:gradFill>
            <a:gsLst>
              <a:gs pos="0">
                <a:srgbClr val="89E1EE"/>
              </a:gs>
              <a:gs pos="100000">
                <a:srgbClr val="FFC3D4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28" name="右箭头 27"/>
          <p:cNvSpPr/>
          <p:nvPr/>
        </p:nvSpPr>
        <p:spPr>
          <a:xfrm rot="5400000">
            <a:off x="7080885" y="2967990"/>
            <a:ext cx="853440" cy="222885"/>
          </a:xfrm>
          <a:prstGeom prst="rightArrow">
            <a:avLst/>
          </a:prstGeom>
          <a:gradFill>
            <a:gsLst>
              <a:gs pos="44000">
                <a:srgbClr val="F0576D"/>
              </a:gs>
              <a:gs pos="96460">
                <a:srgbClr val="FEE0AD"/>
              </a:gs>
              <a:gs pos="0">
                <a:srgbClr val="914488"/>
              </a:gs>
            </a:gsLst>
            <a:lin ang="27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3" name="右箭头 12"/>
          <p:cNvSpPr/>
          <p:nvPr/>
        </p:nvSpPr>
        <p:spPr>
          <a:xfrm rot="3900000" flipV="1">
            <a:off x="10267950" y="2807970"/>
            <a:ext cx="864235" cy="18034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20" y="74295"/>
            <a:ext cx="304863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Datasets</a:t>
            </a:r>
            <a:endParaRPr lang="en-US" sz="4450" dirty="0"/>
          </a:p>
        </p:txBody>
      </p:sp>
      <p:sp>
        <p:nvSpPr>
          <p:cNvPr id="8" name="文本框 7"/>
          <p:cNvSpPr txBox="1"/>
          <p:nvPr/>
        </p:nvSpPr>
        <p:spPr>
          <a:xfrm>
            <a:off x="464820" y="932180"/>
            <a:ext cx="9054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Our datasets comes from social media platform (Twitter and Google)</a:t>
            </a:r>
            <a:endParaRPr lang="en-US" altLang="zh-CN" sz="24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8745"/>
            <a:ext cx="14631035" cy="2949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64820" y="1616710"/>
            <a:ext cx="134918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/>
              <a:t>We have crawled approximately 30000 comments and text on these two socail media, each text has their corresponding sentiment.</a:t>
            </a:r>
            <a:endParaRPr lang="en-US" altLang="zh-CN" sz="2400" b="1"/>
          </a:p>
        </p:txBody>
      </p:sp>
      <p:sp>
        <p:nvSpPr>
          <p:cNvPr id="12" name="文本框 11"/>
          <p:cNvSpPr txBox="1"/>
          <p:nvPr/>
        </p:nvSpPr>
        <p:spPr>
          <a:xfrm>
            <a:off x="464820" y="2877820"/>
            <a:ext cx="136880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/>
              <a:t>We have defined 28 different kinds of sentiments/emotions</a:t>
            </a:r>
            <a:endParaRPr lang="en-US" altLang="zh-CN" sz="2400" b="1"/>
          </a:p>
          <a:p>
            <a:pPr>
              <a:lnSpc>
                <a:spcPct val="150000"/>
              </a:lnSpc>
            </a:pPr>
            <a:r>
              <a:rPr lang="en-US" altLang="zh-CN" sz="2400" b="1"/>
              <a:t>('admiration', 'amusement', 'anger', 'annoyance', 'approval', 'caring', 'confusion', 'curiosity', 'desire', 'disappointment', 'disapproval', 'disgust', 'embarrassment', 'excitement', 'fear', 'gratitude', 'grief', 'joy', 'love', 'nervousness', 'optimism', 'pride', 'realization', 'relief', 'remorse', 'sadness', 'surprise', 'neutral'])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20" y="74295"/>
            <a:ext cx="640905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Preprocessing</a:t>
            </a:r>
            <a:endParaRPr lang="en-US" sz="4450" dirty="0"/>
          </a:p>
        </p:txBody>
      </p:sp>
      <p:sp>
        <p:nvSpPr>
          <p:cNvPr id="3" name="文本框 2"/>
          <p:cNvSpPr txBox="1"/>
          <p:nvPr/>
        </p:nvSpPr>
        <p:spPr>
          <a:xfrm>
            <a:off x="464820" y="1189990"/>
            <a:ext cx="13159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Give each text corresponding label that indicates which emotion that the text belongs to</a:t>
            </a:r>
            <a:endParaRPr lang="en-US" altLang="zh-CN" sz="2400" b="1"/>
          </a:p>
        </p:txBody>
      </p:sp>
      <p:sp>
        <p:nvSpPr>
          <p:cNvPr id="4" name="文本框 3"/>
          <p:cNvSpPr txBox="1"/>
          <p:nvPr/>
        </p:nvSpPr>
        <p:spPr>
          <a:xfrm>
            <a:off x="402590" y="1718310"/>
            <a:ext cx="13747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/>
              <a:t>Delete some row of data that the text do not have the sentiment, and append all the data to training list and test data list repectively, as following: (Each tuple has the text and corresponding emotion label)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984500"/>
            <a:ext cx="13449935" cy="1909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2590" y="4791710"/>
            <a:ext cx="13684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/>
              <a:t>Create the tensor for each text and label so that can be applied to our sentiment analysis model</a:t>
            </a:r>
            <a:endParaRPr lang="en-US" altLang="zh-CN" sz="2400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" y="5437505"/>
            <a:ext cx="12746355" cy="27285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7790" y="137160"/>
            <a:ext cx="9535795" cy="856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Emotion Analysis Model Approach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6403" y="994053"/>
            <a:ext cx="1105716" cy="1769194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3"/>
            </p:custDataLst>
          </p:nvPr>
        </p:nvSpPr>
        <p:spPr>
          <a:xfrm>
            <a:off x="2219933" y="946567"/>
            <a:ext cx="2764409" cy="345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altLang="zh-CN" sz="2400" b="1" dirty="0">
                <a:latin typeface="Times New Roman" panose="02020603050405020304" charset="0"/>
                <a:cs typeface="Times New Roman" panose="02020603050405020304" charset="0"/>
              </a:rPr>
              <a:t>Embedding Layer:</a:t>
            </a:r>
            <a:endParaRPr lang="en-US" altLang="zh-CN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46403" y="3617956"/>
            <a:ext cx="1105716" cy="1769194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2152425" y="4007906"/>
            <a:ext cx="3911727" cy="345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latin typeface="Times New Roman" panose="02020603050405020304" charset="0"/>
                <a:cs typeface="Times New Roman" panose="02020603050405020304" charset="0"/>
              </a:rPr>
              <a:t>Bi-directional LSTM</a:t>
            </a:r>
            <a:endParaRPr 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4173" y="6355524"/>
            <a:ext cx="1105716" cy="1769194"/>
          </a:xfrm>
          <a:prstGeom prst="rect">
            <a:avLst/>
          </a:prstGeom>
        </p:spPr>
      </p:pic>
      <p:sp>
        <p:nvSpPr>
          <p:cNvPr id="12" name="Text 6"/>
          <p:cNvSpPr/>
          <p:nvPr>
            <p:custDataLst>
              <p:tags r:id="rId9"/>
            </p:custDataLst>
          </p:nvPr>
        </p:nvSpPr>
        <p:spPr>
          <a:xfrm>
            <a:off x="2027555" y="6571615"/>
            <a:ext cx="7368540" cy="707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b="1" dirty="0">
                <a:latin typeface="Times New Roman" panose="02020603050405020304" charset="0"/>
                <a:cs typeface="Times New Roman" panose="02020603050405020304" charset="0"/>
              </a:rPr>
              <a:t>Since we have 28 emotions and only need the emotion that has the highest socre  </a:t>
            </a:r>
            <a:endParaRPr lang="en-US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8540" y="0"/>
            <a:ext cx="4721860" cy="8230870"/>
          </a:xfrm>
          <a:prstGeom prst="rect">
            <a:avLst/>
          </a:prstGeom>
        </p:spPr>
      </p:pic>
      <p:sp>
        <p:nvSpPr>
          <p:cNvPr id="2" name="Text 2"/>
          <p:cNvSpPr/>
          <p:nvPr>
            <p:custDataLst>
              <p:tags r:id="rId11"/>
            </p:custDataLst>
          </p:nvPr>
        </p:nvSpPr>
        <p:spPr>
          <a:xfrm>
            <a:off x="2106295" y="4586605"/>
            <a:ext cx="7343775" cy="112077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1" dirty="0">
                <a:latin typeface="Times New Roman" panose="02020603050405020304" charset="0"/>
                <a:cs typeface="Times New Roman" panose="02020603050405020304" charset="0"/>
              </a:rPr>
              <a:t>Bidirectional LSTM (BiLSTM) to capture context from both past and future input sequences.</a:t>
            </a:r>
            <a:endParaRPr lang="en-US" altLang="zh-CN" sz="20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85975" y="5707380"/>
            <a:ext cx="7177405" cy="4451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BiLSTM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(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) = 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concat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(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LSTM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forward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(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)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, 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LSTM</a:t>
            </a:r>
            <a:r>
              <a:rPr lang="en-US" altLang="zh-CN" sz="16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backward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(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</a:t>
            </a:r>
            <a:r>
              <a:rPr lang="en-US" altLang="zh-CN" sz="23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))</a:t>
            </a:r>
            <a:endParaRPr lang="en-US" altLang="zh-CN" sz="2300" b="1" i="1">
              <a:solidFill>
                <a:srgbClr val="000000"/>
              </a:solidFill>
              <a:latin typeface="Times New Roman" panose="02020603050405020304" charset="0"/>
              <a:ea typeface="CMR10"/>
              <a:cs typeface="Times New Roman" panose="0202060305040502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3765" y="7195820"/>
            <a:ext cx="2539365" cy="8382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106295" y="1292225"/>
            <a:ext cx="72732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To convert discrete tokens into continuous vector representations.</a:t>
            </a:r>
            <a:endParaRPr lang="zh-CN" altLang="en-US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27555" y="1845310"/>
            <a:ext cx="10118725" cy="1938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In practice, we compute embeddings for a set of tokens simultaneously</a:t>
            </a:r>
            <a:endParaRPr lang="en-US" altLang="zh-CN" sz="2000" b="1">
              <a:solidFill>
                <a:srgbClr val="000000"/>
              </a:solidFill>
              <a:latin typeface="Times New Roman" panose="02020603050405020304" charset="0"/>
              <a:ea typeface="NimbusRomNo9L-Regu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, packing them into a matrix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, and then multiplying by an embedding</a:t>
            </a:r>
            <a:endParaRPr lang="en-US" altLang="zh-CN" sz="2000" b="1">
              <a:solidFill>
                <a:srgbClr val="000000"/>
              </a:solidFill>
              <a:latin typeface="Times New Roman" panose="02020603050405020304" charset="0"/>
              <a:ea typeface="NimbusRomNo9L-Regu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 matrix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E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to get the output embeddings: </a:t>
            </a:r>
            <a:endParaRPr lang="en-US" altLang="zh-CN" sz="2000" b="1">
              <a:solidFill>
                <a:srgbClr val="000000"/>
              </a:solidFill>
              <a:latin typeface="Times New Roman" panose="02020603050405020304" charset="0"/>
              <a:ea typeface="NimbusRomNo9L-Regu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NimbusRomNo9L-Regu"/>
                <a:cs typeface="Times New Roman" panose="02020603050405020304" charset="0"/>
              </a:rPr>
              <a:t>Embedding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(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R10"/>
                <a:cs typeface="Times New Roman" panose="02020603050405020304" charset="0"/>
              </a:rPr>
              <a:t>) = </a:t>
            </a:r>
            <a:r>
              <a:rPr lang="en-US" altLang="zh-CN" sz="2000" b="1" i="1">
                <a:solidFill>
                  <a:srgbClr val="000000"/>
                </a:solidFill>
                <a:latin typeface="Times New Roman" panose="02020603050405020304" charset="0"/>
                <a:ea typeface="CMMI10"/>
                <a:cs typeface="Times New Roman" panose="02020603050405020304" charset="0"/>
              </a:rPr>
              <a:t>XE</a:t>
            </a:r>
            <a:endParaRPr lang="en-US" altLang="zh-CN" sz="2000" b="1" i="1">
              <a:solidFill>
                <a:srgbClr val="000000"/>
              </a:solidFill>
              <a:latin typeface="Times New Roman" panose="02020603050405020304" charset="0"/>
              <a:ea typeface="CMMI1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080" y="198755"/>
            <a:ext cx="645223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Evaluation of Social Sentiment Analysis</a:t>
            </a:r>
            <a:endParaRPr lang="en-US" sz="445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0" y="5069205"/>
            <a:ext cx="6320790" cy="310769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907415"/>
            <a:ext cx="7835265" cy="35179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907415"/>
            <a:ext cx="6247765" cy="31051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4114800"/>
            <a:ext cx="6063615" cy="320611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359660" y="6995160"/>
            <a:ext cx="2129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training loss</a:t>
            </a:r>
            <a:endParaRPr lang="en-US" altLang="zh-CN" sz="2800"/>
          </a:p>
        </p:txBody>
      </p:sp>
      <p:sp>
        <p:nvSpPr>
          <p:cNvPr id="26" name="文本框 25"/>
          <p:cNvSpPr txBox="1"/>
          <p:nvPr/>
        </p:nvSpPr>
        <p:spPr>
          <a:xfrm>
            <a:off x="7887335" y="7423150"/>
            <a:ext cx="6817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Comparison with other existing methods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5500" y="4486275"/>
            <a:ext cx="5476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Accuracy of our model: 84.38%</a:t>
            </a:r>
            <a:endParaRPr lang="en-US" altLang="zh-CN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右箭头 3"/>
          <p:cNvSpPr/>
          <p:nvPr/>
        </p:nvSpPr>
        <p:spPr>
          <a:xfrm rot="8580000">
            <a:off x="7489190" y="5288280"/>
            <a:ext cx="592455" cy="352425"/>
          </a:xfrm>
          <a:prstGeom prst="rightArrow">
            <a:avLst/>
          </a:prstGeom>
          <a:solidFill>
            <a:srgbClr val="C00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73495" y="6023610"/>
            <a:ext cx="16529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Good performancec in accuracy and spcificity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840" y="278765"/>
            <a:ext cx="2045335" cy="982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Chatbot construction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58562" y="1555274"/>
            <a:ext cx="92988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4550" y="1720969"/>
            <a:ext cx="345971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Use as runable program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-contains </a:t>
            </a: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sentimental analysis and emoji.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414" y="2824242"/>
            <a:ext cx="163592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44471" y="2876431"/>
            <a:ext cx="438066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Fine-tune GPT-2 to generate output flow: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-reason: easy implement and free, but friendly use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-operation: feed enough data and add prompts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09508" y="4094004"/>
            <a:ext cx="16835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44391" y="4217948"/>
            <a:ext cx="338804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Generate emotion classification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-output the emotional score(this part shows our 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sentimental analysis only) 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21454" y="5589191"/>
            <a:ext cx="17597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844550" y="5688330"/>
            <a:ext cx="588327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Final response with humanization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-some examples shows on the right 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6886" y="91440"/>
            <a:ext cx="5093335" cy="26993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886" y="2926715"/>
            <a:ext cx="5184140" cy="24060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220" y="5669915"/>
            <a:ext cx="5170805" cy="2498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840" y="278765"/>
            <a:ext cx="2045335" cy="982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Emoji 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558562" y="1555274"/>
            <a:ext cx="92988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4550" y="1720969"/>
            <a:ext cx="345971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Emoji mapping and selection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-create a mapping table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1414" y="2824242"/>
            <a:ext cx="163592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44471" y="2876431"/>
            <a:ext cx="438066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Introducing randomness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-randomly pick one fitable emoji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75853" y="3888264"/>
            <a:ext cx="16835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44391" y="3987443"/>
            <a:ext cx="338804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Intensity threshold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-calculate the threshold to judge if it need to use emoji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09389" y="5240576"/>
            <a:ext cx="175974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844550" y="5339716"/>
            <a:ext cx="588327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Emotion insertion and sentence reconstruction</a:t>
            </a:r>
            <a:endParaRPr 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l">
              <a:lnSpc>
                <a:spcPts val="2750"/>
              </a:lnSpc>
              <a:buNone/>
            </a:pPr>
            <a:r>
              <a:rPr lang="en-US" sz="2800" dirty="0">
                <a:latin typeface="Times New Roman" panose="02020603050405020304" charset="0"/>
                <a:cs typeface="Times New Roman" panose="02020603050405020304" charset="0"/>
              </a:rPr>
              <a:t>-final step to reconstruct the sentence</a:t>
            </a:r>
            <a:endParaRPr lang="en-US" sz="28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165" y="278130"/>
            <a:ext cx="5027930" cy="75361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815" y="198755"/>
            <a:ext cx="11819890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Evaluation and Output of Chat Bot System</a:t>
            </a:r>
            <a:endParaRPr lang="en-US" sz="445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1975" y="1725295"/>
            <a:ext cx="6120765" cy="526605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" y="1651000"/>
            <a:ext cx="6675755" cy="52768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124075" y="7190741"/>
            <a:ext cx="2789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SAA vs PPL</a:t>
            </a:r>
            <a:endParaRPr lang="en-US" altLang="zh-CN" sz="3200"/>
          </a:p>
        </p:txBody>
      </p:sp>
      <p:sp>
        <p:nvSpPr>
          <p:cNvPr id="29" name="文本框 28"/>
          <p:cNvSpPr txBox="1"/>
          <p:nvPr/>
        </p:nvSpPr>
        <p:spPr>
          <a:xfrm>
            <a:off x="9137015" y="7073901"/>
            <a:ext cx="4211320" cy="81724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/>
              <a:t>response &amp; comparison</a:t>
            </a:r>
            <a:endParaRPr lang="en-US" altLang="zh-CN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" y="0"/>
            <a:ext cx="355536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Briefly Demo</a:t>
            </a:r>
            <a:endParaRPr lang="en-US" sz="4450" dirty="0"/>
          </a:p>
        </p:txBody>
      </p:sp>
      <p:pic>
        <p:nvPicPr>
          <p:cNvPr id="3" name="ae9bdd58223572adeef15c72afce6c3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7150" y="708660"/>
            <a:ext cx="14630400" cy="7042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2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3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4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5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6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7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8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9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0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1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2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3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4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5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6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7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8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19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20.xml><?xml version="1.0" encoding="utf-8"?>
<p:tagLst xmlns:p="http://schemas.openxmlformats.org/presentationml/2006/main">
  <p:tag name="KSO_WM_DIAGRAM_VIRTUALLY_FRAME" val="{&quot;height&quot;:448.2750393700788,&quot;left&quot;:66.7968503937008,&quot;top&quot;:145.6218897637795,&quot;width&quot;:920.0031496062991}"/>
</p:tagLst>
</file>

<file path=ppt/tags/tag21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2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3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4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5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6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7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8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29.xml><?xml version="1.0" encoding="utf-8"?>
<p:tagLst xmlns:p="http://schemas.openxmlformats.org/presentationml/2006/main">
  <p:tag name="KSO_WM_DIAGRAM_VIRTUALLY_FRAME" val="{&quot;height&quot;:176.15937007874012,&quot;left&quot;:62.50314960629921,&quot;top&quot;:273.63440944881893,&quot;width&quot;:1026.9843307086612}"/>
</p:tagLst>
</file>

<file path=ppt/tags/tag30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1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2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3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4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5.xml><?xml version="1.0" encoding="utf-8"?>
<p:tagLst xmlns:p="http://schemas.openxmlformats.org/presentationml/2006/main">
  <p:tag name="KSO_WM_DIAGRAM_VIRTUALLY_FRAME" val="{&quot;height&quot;:640.2781102362205,&quot;left&quot;:53.87188976377952,&quot;top&quot;:68.57188976377952,&quot;width&quot;:778.9281102362205}"/>
</p:tagLst>
</file>

<file path=ppt/tags/tag36.xml><?xml version="1.0" encoding="utf-8"?>
<p:tagLst xmlns:p="http://schemas.openxmlformats.org/presentationml/2006/main">
  <p:tag name="KSO_WM_DIAGRAM_VIRTUALLY_FRAME" val="{&quot;height&quot;:417.43125984251964,&quot;left&quot;:58.77188976377953,&quot;top&quot;:145.57188976377952,&quot;width&quot;:598.956220472440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3331</Words>
  <Application>WPS 演示</Application>
  <PresentationFormat>On-screen Show (16:9)</PresentationFormat>
  <Paragraphs>148</Paragraphs>
  <Slides>11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Inter</vt:lpstr>
      <vt:lpstr>DM Sans Medium</vt:lpstr>
      <vt:lpstr>DM Sans Medium</vt:lpstr>
      <vt:lpstr>DM Sans Medium</vt:lpstr>
      <vt:lpstr>Inter</vt:lpstr>
      <vt:lpstr>Inter</vt:lpstr>
      <vt:lpstr>NimbusRomNo9L-Regu</vt:lpstr>
      <vt:lpstr>Segoe Print</vt:lpstr>
      <vt:lpstr>CMR10</vt:lpstr>
      <vt:lpstr>CMMI10</vt:lpstr>
      <vt:lpstr>微软雅黑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靈新</cp:lastModifiedBy>
  <cp:revision>51</cp:revision>
  <dcterms:created xsi:type="dcterms:W3CDTF">2024-12-12T13:23:00Z</dcterms:created>
  <dcterms:modified xsi:type="dcterms:W3CDTF">2024-12-13T07:49:33Z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27665E2313984C5CADF720587A4818BB_12</vt:lpwstr>
  </property>
  <property fmtid="{D5CDD505-2E9C-101B-9397-08002B2CF9AE}" pid="3" name="KSOProductBuildVer">
    <vt:lpwstr>2052-12.1.0.19302</vt:lpwstr>
  </property>
</Properties>
</file>